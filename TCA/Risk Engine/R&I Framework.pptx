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3EBB-D30C-4EC3-3D37-D4CD4B1BF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7D381-85E0-E710-C657-727C06AAE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C9DA-64AF-63A0-792D-42086FAF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67E1-1237-6791-847B-BC6F3928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B1197-4366-FF45-1CF4-8CCBA1BF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C648-5D14-745F-9340-C32BAE81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BBBC-E4ED-CAB9-A8BE-A3805D4EC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3ACAF-05AE-8379-B3C3-D5EC8859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CBD47-A3AE-470C-194F-3C51B26E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77C46-F01A-2456-0157-D2CE97E5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D3AD-42AB-1050-C9AC-02CEE85F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282F2-2BC7-1F7F-1EA2-341231EA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265FB-389A-B631-4564-BF73BB67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0E303-C96F-A1DE-EF45-66047FE3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698F-BF9A-8D5E-196B-B6E50AAD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E646-894D-0C61-9901-A8EF8E36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5B8F6-D85E-ABE6-9241-A9024DFE6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99A2A-8121-5AAA-9022-1FF77F9DF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9BBFA-E116-87DE-541A-36588E48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33CE3-5EAB-852D-B547-18F14C1E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BAA60-E052-CDAE-AD0B-AD8FF7E0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4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44C9A-295B-F07E-CB44-0B815556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0C5D8-C1CA-ACDF-9E47-010D6AECA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E3D3D-DFBD-0660-F134-15EAEACF8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5DD77-C077-8EBF-EB04-C258E5A67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C6AD6-6A80-635C-ED51-F2F4087B9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A00BB-4502-6D7A-DAAD-BDAE74E3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91F94-4AE4-46FD-4665-89C59F3DD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9FB57-607E-19D1-014A-893A0E6B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7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C0C3-603B-12C3-4CA5-168A54F1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9CB88-F4F8-F634-F625-88C06A07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2B664-C50E-D7E4-0429-4B285456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178A9-8281-226E-CBE4-D315886D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3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7354C-7A38-6FAD-FB5B-7C036AE1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635E4-BC7E-6BB0-89D4-94030742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5AB68-D3C2-FC9D-0243-468D7719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66A3-14BC-C10A-F630-90314AF1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5226-80D8-D730-3D2D-27C14ACE6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70BD9-06C2-1C14-4F4E-44D17C286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90EE0-7C5D-E8C2-B379-C1379D0B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9469C-8344-6514-8D6D-BE1C2953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537F3-F007-9706-643C-E0DFBD2B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4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898C0-E29D-C093-2A88-14FE14CA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84DEB-319F-4EF7-6961-9C368153D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C5174-EDE5-C87E-B138-47408DC27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675FD-50D3-A16A-B55B-1CA0D781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05B84-C384-92A8-F4B7-51193A2F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B0ECE-839A-FB68-54B7-873A0A52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5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02B4-03F7-C436-C60E-A8F9F82E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94160-6B3A-05CD-196A-31FC8F163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A1244-A635-CDFF-86AC-A75BA4DA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29A08-EBB2-0054-3F49-C9587B2D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00D1E-777C-0567-BA4B-2F597505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0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EA376-1CB0-92D6-DF98-47BCCB37F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D8869-F2F2-421E-CD19-DE0E4AD16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6C92E-88DB-3679-BC05-3BF17F88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AEAF-9751-E9A9-423B-8200F66F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6819-3FB2-ED41-BE4E-BDB7DAEA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6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049AE-35CD-616F-332A-20E907B6F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B28B6-F220-6663-2934-B4A084E13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04A5D-64B0-0881-330C-C82BCECA4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E8F85-3312-425D-BC04-C0EB92A7B45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3ED23-9049-00FA-C10D-BB61F4985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FC56F-A232-9BF8-E4E7-E7B4828AB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A2A1A-B4D2-4012-86B7-5CE6C3F0F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micha\OneDrive\Documents\micha\archive\Documents\MRB\Dan%20Garcia\2678\Operational%20Execution\Research\E%20&amp;%20P\A%20Structured%20Risk%20Intelligence%20Framework%20for%20U.S.%20Upstream%20Oil%20&amp;%20Gas%20Investments.docx" TargetMode="External"/><Relationship Id="rId2" Type="http://schemas.openxmlformats.org/officeDocument/2006/relationships/hyperlink" Target="file:///C:\Users\micha\OneDrive\Documents\micha\archive\Documents\MRB\Dan%20Garcia\2678\Operational%20Execution\Research\E%20&amp;%20P\R&amp;I%20Framework.docx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TCA%20Risk%20Framework.doc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A502-3088-4C7E-C9E4-64270A06B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R&amp;I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A807F-D081-5368-6365-AB9C545E8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 Framework</a:t>
            </a:r>
          </a:p>
        </p:txBody>
      </p:sp>
    </p:spTree>
    <p:extLst>
      <p:ext uri="{BB962C8B-B14F-4D97-AF65-F5344CB8AC3E}">
        <p14:creationId xmlns:p14="http://schemas.microsoft.com/office/powerpoint/2010/main" val="297121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03E7-9C22-9FF3-9FA3-BF9B5E95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and Investment Control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09473-6860-122B-B2A2-51B146B8FC49}"/>
              </a:ext>
            </a:extLst>
          </p:cNvPr>
          <p:cNvSpPr txBox="1"/>
          <p:nvPr/>
        </p:nvSpPr>
        <p:spPr>
          <a:xfrm>
            <a:off x="914400" y="1897625"/>
            <a:ext cx="970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 action="ppaction://hlinkfile"/>
              </a:rPr>
              <a:t>The Research and Investment Framework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BE164-225B-18DD-E308-E97A1E5016F8}"/>
              </a:ext>
            </a:extLst>
          </p:cNvPr>
          <p:cNvSpPr txBox="1"/>
          <p:nvPr/>
        </p:nvSpPr>
        <p:spPr>
          <a:xfrm>
            <a:off x="1297859" y="2853320"/>
            <a:ext cx="1563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file"/>
              </a:rPr>
              <a:t>E&amp;P Intelligence Framework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93561-5BBB-FA2D-B688-D22E5322F306}"/>
              </a:ext>
            </a:extLst>
          </p:cNvPr>
          <p:cNvSpPr txBox="1"/>
          <p:nvPr/>
        </p:nvSpPr>
        <p:spPr>
          <a:xfrm>
            <a:off x="6032083" y="2889210"/>
            <a:ext cx="1563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 Estate Intelligence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809F2-0F71-2F41-4D22-C1C1807AC8A4}"/>
              </a:ext>
            </a:extLst>
          </p:cNvPr>
          <p:cNvSpPr txBox="1"/>
          <p:nvPr/>
        </p:nvSpPr>
        <p:spPr>
          <a:xfrm>
            <a:off x="3726408" y="2853320"/>
            <a:ext cx="1563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Intelligence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69CD2-E5E0-4661-0EAC-D930B86CB130}"/>
              </a:ext>
            </a:extLst>
          </p:cNvPr>
          <p:cNvSpPr txBox="1"/>
          <p:nvPr/>
        </p:nvSpPr>
        <p:spPr>
          <a:xfrm>
            <a:off x="8362360" y="2889210"/>
            <a:ext cx="1563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Technology Intelligence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BD333-2922-7CC0-7A8D-235A84B53D00}"/>
              </a:ext>
            </a:extLst>
          </p:cNvPr>
          <p:cNvSpPr txBox="1"/>
          <p:nvPr/>
        </p:nvSpPr>
        <p:spPr>
          <a:xfrm>
            <a:off x="3777396" y="4699817"/>
            <a:ext cx="1406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</a:t>
            </a:r>
          </a:p>
          <a:p>
            <a:r>
              <a:rPr lang="en-US" dirty="0"/>
              <a:t>Risk </a:t>
            </a:r>
          </a:p>
          <a:p>
            <a:r>
              <a:rPr lang="en-US" dirty="0"/>
              <a:t>Domain</a:t>
            </a:r>
          </a:p>
          <a:p>
            <a:r>
              <a:rPr lang="en-US" dirty="0"/>
              <a:t>Renewables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2DA15-9E59-85FE-C9C6-EB3AEF936C99}"/>
              </a:ext>
            </a:extLst>
          </p:cNvPr>
          <p:cNvSpPr txBox="1"/>
          <p:nvPr/>
        </p:nvSpPr>
        <p:spPr>
          <a:xfrm>
            <a:off x="1366113" y="4680154"/>
            <a:ext cx="971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</a:t>
            </a:r>
          </a:p>
          <a:p>
            <a:r>
              <a:rPr lang="en-US" dirty="0"/>
              <a:t>Risk </a:t>
            </a:r>
          </a:p>
          <a:p>
            <a:r>
              <a:rPr lang="en-US" dirty="0"/>
              <a:t>Domain</a:t>
            </a:r>
          </a:p>
          <a:p>
            <a:r>
              <a:rPr lang="en-US" dirty="0"/>
              <a:t>E&amp;P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003872-8F7B-F3A6-0C24-328FE0FF463A}"/>
              </a:ext>
            </a:extLst>
          </p:cNvPr>
          <p:cNvSpPr txBox="1"/>
          <p:nvPr/>
        </p:nvSpPr>
        <p:spPr>
          <a:xfrm>
            <a:off x="6096000" y="4591044"/>
            <a:ext cx="13061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</a:t>
            </a:r>
          </a:p>
          <a:p>
            <a:r>
              <a:rPr lang="en-US" dirty="0"/>
              <a:t>Risk </a:t>
            </a:r>
          </a:p>
          <a:p>
            <a:r>
              <a:rPr lang="en-US" dirty="0"/>
              <a:t>Domain</a:t>
            </a:r>
          </a:p>
          <a:p>
            <a:r>
              <a:rPr lang="en-US" dirty="0"/>
              <a:t>Real Estate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62568-CBD0-483F-F17B-ACCCF7FD7BF5}"/>
              </a:ext>
            </a:extLst>
          </p:cNvPr>
          <p:cNvSpPr txBox="1"/>
          <p:nvPr/>
        </p:nvSpPr>
        <p:spPr>
          <a:xfrm>
            <a:off x="8362360" y="4591043"/>
            <a:ext cx="1304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</a:t>
            </a:r>
          </a:p>
          <a:p>
            <a:r>
              <a:rPr lang="en-US" dirty="0"/>
              <a:t>Risk </a:t>
            </a:r>
          </a:p>
          <a:p>
            <a:r>
              <a:rPr lang="en-US" dirty="0"/>
              <a:t>Domain</a:t>
            </a:r>
          </a:p>
          <a:p>
            <a:r>
              <a:rPr lang="en-US" dirty="0"/>
              <a:t>Technology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9730D0-5956-E06D-CF14-F8BFD7B6B9BF}"/>
              </a:ext>
            </a:extLst>
          </p:cNvPr>
          <p:cNvCxnSpPr/>
          <p:nvPr/>
        </p:nvCxnSpPr>
        <p:spPr>
          <a:xfrm flipH="1">
            <a:off x="2418735" y="2379406"/>
            <a:ext cx="1219200" cy="473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F23A2C-756E-D840-F10D-54D9ABB3F161}"/>
              </a:ext>
            </a:extLst>
          </p:cNvPr>
          <p:cNvCxnSpPr>
            <a:cxnSpLocks/>
          </p:cNvCxnSpPr>
          <p:nvPr/>
        </p:nvCxnSpPr>
        <p:spPr>
          <a:xfrm flipH="1">
            <a:off x="4480762" y="2291803"/>
            <a:ext cx="27310" cy="538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7F14A2-D22A-854E-FF5F-E4DB9C62BBB6}"/>
              </a:ext>
            </a:extLst>
          </p:cNvPr>
          <p:cNvCxnSpPr>
            <a:cxnSpLocks/>
          </p:cNvCxnSpPr>
          <p:nvPr/>
        </p:nvCxnSpPr>
        <p:spPr>
          <a:xfrm>
            <a:off x="6705600" y="2291803"/>
            <a:ext cx="0" cy="561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2DEE80-FF1B-9957-B27F-44A76B5D63BF}"/>
              </a:ext>
            </a:extLst>
          </p:cNvPr>
          <p:cNvCxnSpPr>
            <a:cxnSpLocks/>
          </p:cNvCxnSpPr>
          <p:nvPr/>
        </p:nvCxnSpPr>
        <p:spPr>
          <a:xfrm>
            <a:off x="7826477" y="2353169"/>
            <a:ext cx="1002891" cy="500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1508D8E4-4FDF-C82E-971A-13C0071E4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680" y="3776650"/>
            <a:ext cx="164606" cy="6462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F0421DA-F3C9-9E0E-40C0-47504353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233" y="3848430"/>
            <a:ext cx="164606" cy="6462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2BBF985-D0AA-BC13-C830-68B48955C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512" y="3848430"/>
            <a:ext cx="164606" cy="6462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100D90-7E21-41BE-3A5F-28C0A5DD4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065" y="3903848"/>
            <a:ext cx="164606" cy="646232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BA033B-E791-E8FA-D281-1331DB8AED4C}"/>
              </a:ext>
            </a:extLst>
          </p:cNvPr>
          <p:cNvCxnSpPr/>
          <p:nvPr/>
        </p:nvCxnSpPr>
        <p:spPr>
          <a:xfrm>
            <a:off x="10284542" y="5191207"/>
            <a:ext cx="599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377CDB5-8553-12C4-1D07-EB49284A49DE}"/>
              </a:ext>
            </a:extLst>
          </p:cNvPr>
          <p:cNvSpPr txBox="1"/>
          <p:nvPr/>
        </p:nvSpPr>
        <p:spPr>
          <a:xfrm>
            <a:off x="11035333" y="4314044"/>
            <a:ext cx="9323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Results</a:t>
            </a:r>
          </a:p>
          <a:p>
            <a:r>
              <a:rPr lang="en-US" dirty="0"/>
              <a:t>Feed</a:t>
            </a:r>
          </a:p>
          <a:p>
            <a:r>
              <a:rPr lang="en-US" dirty="0"/>
              <a:t>Into</a:t>
            </a:r>
          </a:p>
          <a:p>
            <a:r>
              <a:rPr lang="en-US" dirty="0">
                <a:hlinkClick r:id="rId5" action="ppaction://hlinksldjump"/>
              </a:rPr>
              <a:t>TCA</a:t>
            </a:r>
          </a:p>
          <a:p>
            <a:r>
              <a:rPr lang="en-US" dirty="0">
                <a:hlinkClick r:id="rId5" action="ppaction://hlinksldjump"/>
              </a:rPr>
              <a:t>Risk</a:t>
            </a:r>
          </a:p>
          <a:p>
            <a:r>
              <a:rPr lang="en-US" dirty="0">
                <a:hlinkClick r:id="rId5" action="ppaction://hlinksldjump"/>
              </a:rPr>
              <a:t>Engine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D271-62BF-DF3F-5F0C-CA8BB793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TCA Risk 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37B20-A6FF-5484-FC2C-C9F9F3261379}"/>
              </a:ext>
            </a:extLst>
          </p:cNvPr>
          <p:cNvSpPr txBox="1"/>
          <p:nvPr/>
        </p:nvSpPr>
        <p:spPr>
          <a:xfrm>
            <a:off x="914400" y="1897625"/>
            <a:ext cx="970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 action="ppaction://hlinkfile"/>
              </a:rPr>
              <a:t>TCA Risk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5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522B-03FF-024F-436E-B261CD02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TCA Risk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861B-7385-5AE2-A925-FFBABD29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9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32604</TotalTime>
  <Words>65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R&amp;I Framework</vt:lpstr>
      <vt:lpstr>Research and Investment Control Framework</vt:lpstr>
      <vt:lpstr>TCA Risk Framework</vt:lpstr>
      <vt:lpstr>TCA Risk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Berry</dc:creator>
  <cp:lastModifiedBy>Michael Berry</cp:lastModifiedBy>
  <cp:revision>2</cp:revision>
  <dcterms:created xsi:type="dcterms:W3CDTF">2026-03-22T14:02:33Z</dcterms:created>
  <dcterms:modified xsi:type="dcterms:W3CDTF">2026-05-07T23:50:11Z</dcterms:modified>
</cp:coreProperties>
</file>